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Schoolbell" charset="1" panose="02000000000000000000"/>
      <p:regular r:id="rId18"/>
    </p:embeddedFont>
    <p:embeddedFont>
      <p:font typeface="Nunito" charset="1" panose="00000000000000000000"/>
      <p:regular r:id="rId19"/>
    </p:embeddedFont>
    <p:embeddedFont>
      <p:font typeface="Nunito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17" Target="../media/image28.png" Type="http://schemas.openxmlformats.org/officeDocument/2006/relationships/image"/><Relationship Id="rId18" Target="../media/image29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38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svg" Type="http://schemas.openxmlformats.org/officeDocument/2006/relationships/image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2" Target="../media/image1.png" Type="http://schemas.openxmlformats.org/officeDocument/2006/relationships/imag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svg" Type="http://schemas.openxmlformats.org/officeDocument/2006/relationships/image"/><Relationship Id="rId11" Target="../media/image53.pn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39.png" Type="http://schemas.openxmlformats.org/officeDocument/2006/relationships/image"/><Relationship Id="rId14" Target="../media/image40.svg" Type="http://schemas.openxmlformats.org/officeDocument/2006/relationships/image"/><Relationship Id="rId15" Target="../media/image4.png" Type="http://schemas.openxmlformats.org/officeDocument/2006/relationships/image"/><Relationship Id="rId16" Target="../media/image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959">
            <a:off x="-124309" y="-224387"/>
            <a:ext cx="18536618" cy="10735775"/>
          </a:xfrm>
          <a:custGeom>
            <a:avLst/>
            <a:gdLst/>
            <a:ahLst/>
            <a:cxnLst/>
            <a:rect r="r" b="b" t="t" l="l"/>
            <a:pathLst>
              <a:path h="10735775" w="18536618">
                <a:moveTo>
                  <a:pt x="254203" y="0"/>
                </a:moveTo>
                <a:lnTo>
                  <a:pt x="18536618" y="451916"/>
                </a:lnTo>
                <a:lnTo>
                  <a:pt x="18282415" y="10735774"/>
                </a:lnTo>
                <a:lnTo>
                  <a:pt x="0" y="10283858"/>
                </a:lnTo>
                <a:lnTo>
                  <a:pt x="254203" y="0"/>
                </a:lnTo>
                <a:close/>
              </a:path>
            </a:pathLst>
          </a:custGeom>
          <a:blipFill>
            <a:blip r:embed="rId2"/>
            <a:stretch>
              <a:fillRect l="-4032" t="-15869" r="-6526" b="-282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410082">
            <a:off x="-3544984" y="72479"/>
            <a:ext cx="14301857" cy="11544731"/>
          </a:xfrm>
          <a:custGeom>
            <a:avLst/>
            <a:gdLst/>
            <a:ahLst/>
            <a:cxnLst/>
            <a:rect r="r" b="b" t="t" l="l"/>
            <a:pathLst>
              <a:path h="11544731" w="14301857">
                <a:moveTo>
                  <a:pt x="0" y="0"/>
                </a:moveTo>
                <a:lnTo>
                  <a:pt x="14301857" y="0"/>
                </a:lnTo>
                <a:lnTo>
                  <a:pt x="14301857" y="11544731"/>
                </a:lnTo>
                <a:lnTo>
                  <a:pt x="0" y="1154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059743">
            <a:off x="16454933" y="-6298278"/>
            <a:ext cx="11363375" cy="12302867"/>
          </a:xfrm>
          <a:custGeom>
            <a:avLst/>
            <a:gdLst/>
            <a:ahLst/>
            <a:cxnLst/>
            <a:rect r="r" b="b" t="t" l="l"/>
            <a:pathLst>
              <a:path h="12302867" w="11363375">
                <a:moveTo>
                  <a:pt x="0" y="0"/>
                </a:moveTo>
                <a:lnTo>
                  <a:pt x="11363375" y="0"/>
                </a:lnTo>
                <a:lnTo>
                  <a:pt x="11363375" y="12302866"/>
                </a:lnTo>
                <a:lnTo>
                  <a:pt x="0" y="123028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364103">
            <a:off x="7785500" y="1250005"/>
            <a:ext cx="10110950" cy="7670097"/>
          </a:xfrm>
          <a:custGeom>
            <a:avLst/>
            <a:gdLst/>
            <a:ahLst/>
            <a:cxnLst/>
            <a:rect r="r" b="b" t="t" l="l"/>
            <a:pathLst>
              <a:path h="7670097" w="10110950">
                <a:moveTo>
                  <a:pt x="10110950" y="0"/>
                </a:moveTo>
                <a:lnTo>
                  <a:pt x="0" y="0"/>
                </a:lnTo>
                <a:lnTo>
                  <a:pt x="0" y="7670097"/>
                </a:lnTo>
                <a:lnTo>
                  <a:pt x="10110950" y="7670097"/>
                </a:lnTo>
                <a:lnTo>
                  <a:pt x="1011095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43920" y="1780371"/>
            <a:ext cx="7557006" cy="7334961"/>
          </a:xfrm>
          <a:custGeom>
            <a:avLst/>
            <a:gdLst/>
            <a:ahLst/>
            <a:cxnLst/>
            <a:rect r="r" b="b" t="t" l="l"/>
            <a:pathLst>
              <a:path h="7334961" w="7557006">
                <a:moveTo>
                  <a:pt x="0" y="0"/>
                </a:moveTo>
                <a:lnTo>
                  <a:pt x="7557006" y="0"/>
                </a:lnTo>
                <a:lnTo>
                  <a:pt x="7557006" y="7334962"/>
                </a:lnTo>
                <a:lnTo>
                  <a:pt x="0" y="73349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-5398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404609">
            <a:off x="-618467" y="-1470484"/>
            <a:ext cx="3294335" cy="4592103"/>
          </a:xfrm>
          <a:custGeom>
            <a:avLst/>
            <a:gdLst/>
            <a:ahLst/>
            <a:cxnLst/>
            <a:rect r="r" b="b" t="t" l="l"/>
            <a:pathLst>
              <a:path h="4592103" w="3294335">
                <a:moveTo>
                  <a:pt x="0" y="0"/>
                </a:moveTo>
                <a:lnTo>
                  <a:pt x="3294334" y="0"/>
                </a:lnTo>
                <a:lnTo>
                  <a:pt x="3294334" y="4592103"/>
                </a:lnTo>
                <a:lnTo>
                  <a:pt x="0" y="459210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62013">
            <a:off x="16059221" y="1075210"/>
            <a:ext cx="1539735" cy="800662"/>
          </a:xfrm>
          <a:custGeom>
            <a:avLst/>
            <a:gdLst/>
            <a:ahLst/>
            <a:cxnLst/>
            <a:rect r="r" b="b" t="t" l="l"/>
            <a:pathLst>
              <a:path h="800662" w="1539735">
                <a:moveTo>
                  <a:pt x="0" y="0"/>
                </a:moveTo>
                <a:lnTo>
                  <a:pt x="1539736" y="0"/>
                </a:lnTo>
                <a:lnTo>
                  <a:pt x="1539736" y="800663"/>
                </a:lnTo>
                <a:lnTo>
                  <a:pt x="0" y="80066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404609">
            <a:off x="15424965" y="7966018"/>
            <a:ext cx="2951922" cy="4114800"/>
          </a:xfrm>
          <a:custGeom>
            <a:avLst/>
            <a:gdLst/>
            <a:ahLst/>
            <a:cxnLst/>
            <a:rect r="r" b="b" t="t" l="l"/>
            <a:pathLst>
              <a:path h="4114800" w="2951922">
                <a:moveTo>
                  <a:pt x="0" y="0"/>
                </a:moveTo>
                <a:lnTo>
                  <a:pt x="2951922" y="0"/>
                </a:lnTo>
                <a:lnTo>
                  <a:pt x="29519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0318431">
            <a:off x="5545837" y="1771310"/>
            <a:ext cx="2286600" cy="947900"/>
          </a:xfrm>
          <a:custGeom>
            <a:avLst/>
            <a:gdLst/>
            <a:ahLst/>
            <a:cxnLst/>
            <a:rect r="r" b="b" t="t" l="l"/>
            <a:pathLst>
              <a:path h="947900" w="2286600">
                <a:moveTo>
                  <a:pt x="0" y="0"/>
                </a:moveTo>
                <a:lnTo>
                  <a:pt x="2286601" y="0"/>
                </a:lnTo>
                <a:lnTo>
                  <a:pt x="2286601" y="947900"/>
                </a:lnTo>
                <a:lnTo>
                  <a:pt x="0" y="9479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1269" y="4234109"/>
            <a:ext cx="8152478" cy="140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11"/>
              </a:lnSpc>
            </a:pPr>
            <a:r>
              <a:rPr lang="en-US" sz="8880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“Diagnostica DOC”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53429" y="7572309"/>
            <a:ext cx="5970318" cy="114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7"/>
              </a:lnSpc>
            </a:pPr>
            <a:r>
              <a:rPr lang="en-US" sz="1998" spc="52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Juan Araneda </a:t>
            </a:r>
          </a:p>
          <a:p>
            <a:pPr algn="l">
              <a:lnSpc>
                <a:spcPts val="3157"/>
              </a:lnSpc>
            </a:pPr>
            <a:r>
              <a:rPr lang="en-US" sz="1998" spc="52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Ana González </a:t>
            </a:r>
          </a:p>
          <a:p>
            <a:pPr algn="l" marL="0" indent="0" lvl="0">
              <a:lnSpc>
                <a:spcPts val="3157"/>
              </a:lnSpc>
            </a:pPr>
            <a:r>
              <a:rPr lang="en-US" sz="1998" spc="52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Pedro Guzmán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768645"/>
            <a:ext cx="7226911" cy="348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4"/>
              </a:lnSpc>
            </a:pPr>
            <a:r>
              <a:rPr lang="en-US" sz="1851" spc="483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Plataforma de diagnóstico asistido por 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959">
            <a:off x="-124309" y="-224387"/>
            <a:ext cx="18536618" cy="10735775"/>
          </a:xfrm>
          <a:custGeom>
            <a:avLst/>
            <a:gdLst/>
            <a:ahLst/>
            <a:cxnLst/>
            <a:rect r="r" b="b" t="t" l="l"/>
            <a:pathLst>
              <a:path h="10735775" w="18536618">
                <a:moveTo>
                  <a:pt x="254203" y="0"/>
                </a:moveTo>
                <a:lnTo>
                  <a:pt x="18536618" y="451916"/>
                </a:lnTo>
                <a:lnTo>
                  <a:pt x="18282415" y="10735774"/>
                </a:lnTo>
                <a:lnTo>
                  <a:pt x="0" y="10283858"/>
                </a:lnTo>
                <a:lnTo>
                  <a:pt x="254203" y="0"/>
                </a:lnTo>
                <a:close/>
              </a:path>
            </a:pathLst>
          </a:custGeom>
          <a:blipFill>
            <a:blip r:embed="rId2"/>
            <a:stretch>
              <a:fillRect l="-4032" t="-15869" r="-6526" b="-282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60406">
            <a:off x="6673358" y="-604355"/>
            <a:ext cx="14858225" cy="11993842"/>
          </a:xfrm>
          <a:custGeom>
            <a:avLst/>
            <a:gdLst/>
            <a:ahLst/>
            <a:cxnLst/>
            <a:rect r="r" b="b" t="t" l="l"/>
            <a:pathLst>
              <a:path h="11993842" w="14858225">
                <a:moveTo>
                  <a:pt x="0" y="0"/>
                </a:moveTo>
                <a:lnTo>
                  <a:pt x="14858225" y="0"/>
                </a:lnTo>
                <a:lnTo>
                  <a:pt x="14858225" y="11993842"/>
                </a:lnTo>
                <a:lnTo>
                  <a:pt x="0" y="119938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7336">
            <a:off x="9843423" y="1479535"/>
            <a:ext cx="7436091" cy="7327930"/>
          </a:xfrm>
          <a:custGeom>
            <a:avLst/>
            <a:gdLst/>
            <a:ahLst/>
            <a:cxnLst/>
            <a:rect r="r" b="b" t="t" l="l"/>
            <a:pathLst>
              <a:path h="7327930" w="7436091">
                <a:moveTo>
                  <a:pt x="0" y="0"/>
                </a:moveTo>
                <a:lnTo>
                  <a:pt x="7436092" y="0"/>
                </a:lnTo>
                <a:lnTo>
                  <a:pt x="7436092" y="7327930"/>
                </a:lnTo>
                <a:lnTo>
                  <a:pt x="0" y="73279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626110" y="6119494"/>
            <a:ext cx="7870718" cy="220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71"/>
              </a:lnSpc>
            </a:pPr>
            <a:r>
              <a:rPr lang="en-US" sz="14009" spc="952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Índice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2390273">
            <a:off x="16020867" y="-1389491"/>
            <a:ext cx="2951922" cy="4114800"/>
          </a:xfrm>
          <a:custGeom>
            <a:avLst/>
            <a:gdLst/>
            <a:ahLst/>
            <a:cxnLst/>
            <a:rect r="r" b="b" t="t" l="l"/>
            <a:pathLst>
              <a:path h="4114800" w="2951922">
                <a:moveTo>
                  <a:pt x="0" y="0"/>
                </a:moveTo>
                <a:lnTo>
                  <a:pt x="2951922" y="0"/>
                </a:lnTo>
                <a:lnTo>
                  <a:pt x="29519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249239">
            <a:off x="-999120" y="7200900"/>
            <a:ext cx="2951922" cy="4114800"/>
          </a:xfrm>
          <a:custGeom>
            <a:avLst/>
            <a:gdLst/>
            <a:ahLst/>
            <a:cxnLst/>
            <a:rect r="r" b="b" t="t" l="l"/>
            <a:pathLst>
              <a:path h="4114800" w="2951922">
                <a:moveTo>
                  <a:pt x="0" y="0"/>
                </a:moveTo>
                <a:lnTo>
                  <a:pt x="2951922" y="0"/>
                </a:lnTo>
                <a:lnTo>
                  <a:pt x="29519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9054" y="914400"/>
            <a:ext cx="6930571" cy="5730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6"/>
              </a:lnSpc>
            </a:pPr>
            <a:r>
              <a:rPr lang="en-US" sz="3200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01. Contexto </a:t>
            </a:r>
          </a:p>
          <a:p>
            <a:pPr algn="l">
              <a:lnSpc>
                <a:spcPts val="5056"/>
              </a:lnSpc>
            </a:pPr>
            <a:r>
              <a:rPr lang="en-US" sz="3200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02. Problema </a:t>
            </a:r>
          </a:p>
          <a:p>
            <a:pPr algn="l">
              <a:lnSpc>
                <a:spcPts val="5056"/>
              </a:lnSpc>
            </a:pPr>
            <a:r>
              <a:rPr lang="en-US" sz="3200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03. Necesidad </a:t>
            </a:r>
          </a:p>
          <a:p>
            <a:pPr algn="l">
              <a:lnSpc>
                <a:spcPts val="5056"/>
              </a:lnSpc>
            </a:pPr>
            <a:r>
              <a:rPr lang="en-US" sz="3200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04. Solución </a:t>
            </a:r>
          </a:p>
          <a:p>
            <a:pPr algn="l">
              <a:lnSpc>
                <a:spcPts val="5056"/>
              </a:lnSpc>
            </a:pPr>
            <a:r>
              <a:rPr lang="en-US" sz="3200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05. Historias de usuario </a:t>
            </a:r>
          </a:p>
          <a:p>
            <a:pPr algn="l">
              <a:lnSpc>
                <a:spcPts val="5056"/>
              </a:lnSpc>
            </a:pPr>
            <a:r>
              <a:rPr lang="en-US" sz="3200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06. RF y RNF</a:t>
            </a:r>
          </a:p>
          <a:p>
            <a:pPr algn="l">
              <a:lnSpc>
                <a:spcPts val="5131"/>
              </a:lnSpc>
            </a:pPr>
            <a:r>
              <a:rPr lang="en-US" sz="3247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</a:p>
          <a:p>
            <a:pPr algn="l">
              <a:lnSpc>
                <a:spcPts val="5131"/>
              </a:lnSpc>
            </a:pPr>
          </a:p>
          <a:p>
            <a:pPr algn="l" marL="0" indent="0" lvl="0">
              <a:lnSpc>
                <a:spcPts val="5131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7527260">
            <a:off x="7967309" y="1371562"/>
            <a:ext cx="2353382" cy="1364962"/>
          </a:xfrm>
          <a:custGeom>
            <a:avLst/>
            <a:gdLst/>
            <a:ahLst/>
            <a:cxnLst/>
            <a:rect r="r" b="b" t="t" l="l"/>
            <a:pathLst>
              <a:path h="1364962" w="2353382">
                <a:moveTo>
                  <a:pt x="0" y="0"/>
                </a:moveTo>
                <a:lnTo>
                  <a:pt x="2353382" y="0"/>
                </a:lnTo>
                <a:lnTo>
                  <a:pt x="2353382" y="1364962"/>
                </a:lnTo>
                <a:lnTo>
                  <a:pt x="0" y="13649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192193">
            <a:off x="15587191" y="8373550"/>
            <a:ext cx="2026803" cy="1175546"/>
          </a:xfrm>
          <a:custGeom>
            <a:avLst/>
            <a:gdLst/>
            <a:ahLst/>
            <a:cxnLst/>
            <a:rect r="r" b="b" t="t" l="l"/>
            <a:pathLst>
              <a:path h="1175546" w="2026803">
                <a:moveTo>
                  <a:pt x="0" y="0"/>
                </a:moveTo>
                <a:lnTo>
                  <a:pt x="2026804" y="0"/>
                </a:lnTo>
                <a:lnTo>
                  <a:pt x="2026804" y="1175546"/>
                </a:lnTo>
                <a:lnTo>
                  <a:pt x="0" y="11755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942126" y="5499196"/>
            <a:ext cx="6195985" cy="4040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6"/>
              </a:lnSpc>
            </a:pPr>
          </a:p>
          <a:p>
            <a:pPr algn="l">
              <a:lnSpc>
                <a:spcPts val="5056"/>
              </a:lnSpc>
            </a:pPr>
            <a:r>
              <a:rPr lang="en-US" sz="3200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07. Metodologia </a:t>
            </a:r>
          </a:p>
          <a:p>
            <a:pPr algn="l">
              <a:lnSpc>
                <a:spcPts val="5056"/>
              </a:lnSpc>
            </a:pPr>
            <a:r>
              <a:rPr lang="en-US" sz="3200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08. Roles</a:t>
            </a:r>
          </a:p>
          <a:p>
            <a:pPr algn="l">
              <a:lnSpc>
                <a:spcPts val="5056"/>
              </a:lnSpc>
            </a:pPr>
            <a:r>
              <a:rPr lang="en-US" sz="3200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09. Road map</a:t>
            </a:r>
          </a:p>
          <a:p>
            <a:pPr algn="l">
              <a:lnSpc>
                <a:spcPts val="5056"/>
              </a:lnSpc>
            </a:pPr>
            <a:r>
              <a:rPr lang="en-US" sz="3200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10. Cronograma </a:t>
            </a:r>
          </a:p>
          <a:p>
            <a:pPr algn="l" marL="0" indent="0" lvl="0">
              <a:lnSpc>
                <a:spcPts val="730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959">
            <a:off x="-124309" y="-224387"/>
            <a:ext cx="18536618" cy="10735775"/>
          </a:xfrm>
          <a:custGeom>
            <a:avLst/>
            <a:gdLst/>
            <a:ahLst/>
            <a:cxnLst/>
            <a:rect r="r" b="b" t="t" l="l"/>
            <a:pathLst>
              <a:path h="10735775" w="18536618">
                <a:moveTo>
                  <a:pt x="254203" y="0"/>
                </a:moveTo>
                <a:lnTo>
                  <a:pt x="18536618" y="451916"/>
                </a:lnTo>
                <a:lnTo>
                  <a:pt x="18282415" y="10735774"/>
                </a:lnTo>
                <a:lnTo>
                  <a:pt x="0" y="10283858"/>
                </a:lnTo>
                <a:lnTo>
                  <a:pt x="254203" y="0"/>
                </a:lnTo>
                <a:close/>
              </a:path>
            </a:pathLst>
          </a:custGeom>
          <a:blipFill>
            <a:blip r:embed="rId2"/>
            <a:stretch>
              <a:fillRect l="-4032" t="-15869" r="-6526" b="-282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0157" y="1928186"/>
            <a:ext cx="6556812" cy="7002421"/>
          </a:xfrm>
          <a:custGeom>
            <a:avLst/>
            <a:gdLst/>
            <a:ahLst/>
            <a:cxnLst/>
            <a:rect r="r" b="b" t="t" l="l"/>
            <a:pathLst>
              <a:path h="7002421" w="6556812">
                <a:moveTo>
                  <a:pt x="0" y="0"/>
                </a:moveTo>
                <a:lnTo>
                  <a:pt x="6556812" y="0"/>
                </a:lnTo>
                <a:lnTo>
                  <a:pt x="6556812" y="7002421"/>
                </a:lnTo>
                <a:lnTo>
                  <a:pt x="0" y="70024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0" y="5753845"/>
            <a:ext cx="7800259" cy="291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9"/>
              </a:lnSpc>
            </a:pPr>
            <a:r>
              <a:rPr lang="en-US" sz="2949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El diagnóstico temprano de enfermedades es clave para salvar vidas. La Inteligencia Artificial aplicada a imágenes médicas permite apoyar a los médicos en la detección rápida y confiable.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3314339">
            <a:off x="12034802" y="-8467800"/>
            <a:ext cx="11363375" cy="12302867"/>
          </a:xfrm>
          <a:custGeom>
            <a:avLst/>
            <a:gdLst/>
            <a:ahLst/>
            <a:cxnLst/>
            <a:rect r="r" b="b" t="t" l="l"/>
            <a:pathLst>
              <a:path h="12302867" w="11363375">
                <a:moveTo>
                  <a:pt x="0" y="0"/>
                </a:moveTo>
                <a:lnTo>
                  <a:pt x="11363375" y="0"/>
                </a:lnTo>
                <a:lnTo>
                  <a:pt x="11363375" y="12302867"/>
                </a:lnTo>
                <a:lnTo>
                  <a:pt x="0" y="12302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3864381"/>
            <a:ext cx="8115300" cy="156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39"/>
              </a:lnSpc>
            </a:pPr>
            <a:r>
              <a:rPr lang="en-US" sz="9951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Contexto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404609">
            <a:off x="7496833" y="-2208648"/>
            <a:ext cx="3294335" cy="4592103"/>
          </a:xfrm>
          <a:custGeom>
            <a:avLst/>
            <a:gdLst/>
            <a:ahLst/>
            <a:cxnLst/>
            <a:rect r="r" b="b" t="t" l="l"/>
            <a:pathLst>
              <a:path h="4592103" w="3294335">
                <a:moveTo>
                  <a:pt x="0" y="0"/>
                </a:moveTo>
                <a:lnTo>
                  <a:pt x="3294334" y="0"/>
                </a:lnTo>
                <a:lnTo>
                  <a:pt x="3294334" y="4592103"/>
                </a:lnTo>
                <a:lnTo>
                  <a:pt x="0" y="45921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318431">
            <a:off x="14357422" y="1886686"/>
            <a:ext cx="2986404" cy="1238000"/>
          </a:xfrm>
          <a:custGeom>
            <a:avLst/>
            <a:gdLst/>
            <a:ahLst/>
            <a:cxnLst/>
            <a:rect r="r" b="b" t="t" l="l"/>
            <a:pathLst>
              <a:path h="1238000" w="2986404">
                <a:moveTo>
                  <a:pt x="0" y="0"/>
                </a:moveTo>
                <a:lnTo>
                  <a:pt x="2986404" y="0"/>
                </a:lnTo>
                <a:lnTo>
                  <a:pt x="2986404" y="1238000"/>
                </a:lnTo>
                <a:lnTo>
                  <a:pt x="0" y="1238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959">
            <a:off x="-124309" y="-224387"/>
            <a:ext cx="18536618" cy="10735775"/>
          </a:xfrm>
          <a:custGeom>
            <a:avLst/>
            <a:gdLst/>
            <a:ahLst/>
            <a:cxnLst/>
            <a:rect r="r" b="b" t="t" l="l"/>
            <a:pathLst>
              <a:path h="10735775" w="18536618">
                <a:moveTo>
                  <a:pt x="254203" y="0"/>
                </a:moveTo>
                <a:lnTo>
                  <a:pt x="18536618" y="451916"/>
                </a:lnTo>
                <a:lnTo>
                  <a:pt x="18282415" y="10735774"/>
                </a:lnTo>
                <a:lnTo>
                  <a:pt x="0" y="10283858"/>
                </a:lnTo>
                <a:lnTo>
                  <a:pt x="254203" y="0"/>
                </a:lnTo>
                <a:close/>
              </a:path>
            </a:pathLst>
          </a:custGeom>
          <a:blipFill>
            <a:blip r:embed="rId2"/>
            <a:stretch>
              <a:fillRect l="-4032" t="-15869" r="-6526" b="-282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410082">
            <a:off x="-3605496" y="-13167"/>
            <a:ext cx="14301857" cy="11544731"/>
          </a:xfrm>
          <a:custGeom>
            <a:avLst/>
            <a:gdLst/>
            <a:ahLst/>
            <a:cxnLst/>
            <a:rect r="r" b="b" t="t" l="l"/>
            <a:pathLst>
              <a:path h="11544731" w="14301857">
                <a:moveTo>
                  <a:pt x="0" y="0"/>
                </a:moveTo>
                <a:lnTo>
                  <a:pt x="14301857" y="0"/>
                </a:lnTo>
                <a:lnTo>
                  <a:pt x="14301857" y="11544731"/>
                </a:lnTo>
                <a:lnTo>
                  <a:pt x="0" y="1154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404609">
            <a:off x="-447261" y="-1382905"/>
            <a:ext cx="2951922" cy="4114800"/>
          </a:xfrm>
          <a:custGeom>
            <a:avLst/>
            <a:gdLst/>
            <a:ahLst/>
            <a:cxnLst/>
            <a:rect r="r" b="b" t="t" l="l"/>
            <a:pathLst>
              <a:path h="4114800" w="2951922">
                <a:moveTo>
                  <a:pt x="0" y="0"/>
                </a:moveTo>
                <a:lnTo>
                  <a:pt x="2951922" y="0"/>
                </a:lnTo>
                <a:lnTo>
                  <a:pt x="29519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059743">
            <a:off x="15917040" y="-6399133"/>
            <a:ext cx="11363375" cy="12302867"/>
          </a:xfrm>
          <a:custGeom>
            <a:avLst/>
            <a:gdLst/>
            <a:ahLst/>
            <a:cxnLst/>
            <a:rect r="r" b="b" t="t" l="l"/>
            <a:pathLst>
              <a:path h="12302867" w="11363375">
                <a:moveTo>
                  <a:pt x="0" y="0"/>
                </a:moveTo>
                <a:lnTo>
                  <a:pt x="11363375" y="0"/>
                </a:lnTo>
                <a:lnTo>
                  <a:pt x="11363375" y="12302867"/>
                </a:lnTo>
                <a:lnTo>
                  <a:pt x="0" y="123028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318431">
            <a:off x="15129672" y="1458171"/>
            <a:ext cx="2368247" cy="981746"/>
          </a:xfrm>
          <a:custGeom>
            <a:avLst/>
            <a:gdLst/>
            <a:ahLst/>
            <a:cxnLst/>
            <a:rect r="r" b="b" t="t" l="l"/>
            <a:pathLst>
              <a:path h="981746" w="2368247">
                <a:moveTo>
                  <a:pt x="0" y="0"/>
                </a:moveTo>
                <a:lnTo>
                  <a:pt x="2368247" y="0"/>
                </a:lnTo>
                <a:lnTo>
                  <a:pt x="2368247" y="981746"/>
                </a:lnTo>
                <a:lnTo>
                  <a:pt x="0" y="9817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158484">
            <a:off x="8434187" y="8002786"/>
            <a:ext cx="2637602" cy="1093406"/>
          </a:xfrm>
          <a:custGeom>
            <a:avLst/>
            <a:gdLst/>
            <a:ahLst/>
            <a:cxnLst/>
            <a:rect r="r" b="b" t="t" l="l"/>
            <a:pathLst>
              <a:path h="1093406" w="2637602">
                <a:moveTo>
                  <a:pt x="0" y="0"/>
                </a:moveTo>
                <a:lnTo>
                  <a:pt x="2637602" y="0"/>
                </a:lnTo>
                <a:lnTo>
                  <a:pt x="2637602" y="1093406"/>
                </a:lnTo>
                <a:lnTo>
                  <a:pt x="0" y="10934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515713">
            <a:off x="16065955" y="7329926"/>
            <a:ext cx="2951922" cy="4114800"/>
          </a:xfrm>
          <a:custGeom>
            <a:avLst/>
            <a:gdLst/>
            <a:ahLst/>
            <a:cxnLst/>
            <a:rect r="r" b="b" t="t" l="l"/>
            <a:pathLst>
              <a:path h="4114800" w="2951922">
                <a:moveTo>
                  <a:pt x="0" y="0"/>
                </a:moveTo>
                <a:lnTo>
                  <a:pt x="2951922" y="0"/>
                </a:lnTo>
                <a:lnTo>
                  <a:pt x="29519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54618" y="-30256"/>
            <a:ext cx="1347332" cy="700613"/>
          </a:xfrm>
          <a:custGeom>
            <a:avLst/>
            <a:gdLst/>
            <a:ahLst/>
            <a:cxnLst/>
            <a:rect r="r" b="b" t="t" l="l"/>
            <a:pathLst>
              <a:path h="700613" w="1347332">
                <a:moveTo>
                  <a:pt x="0" y="0"/>
                </a:moveTo>
                <a:lnTo>
                  <a:pt x="1347332" y="0"/>
                </a:lnTo>
                <a:lnTo>
                  <a:pt x="1347332" y="700612"/>
                </a:lnTo>
                <a:lnTo>
                  <a:pt x="0" y="7006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19219" y="4221128"/>
            <a:ext cx="2274023" cy="3111226"/>
          </a:xfrm>
          <a:custGeom>
            <a:avLst/>
            <a:gdLst/>
            <a:ahLst/>
            <a:cxnLst/>
            <a:rect r="r" b="b" t="t" l="l"/>
            <a:pathLst>
              <a:path h="3111226" w="2274023">
                <a:moveTo>
                  <a:pt x="0" y="0"/>
                </a:moveTo>
                <a:lnTo>
                  <a:pt x="2274023" y="0"/>
                </a:lnTo>
                <a:lnTo>
                  <a:pt x="2274023" y="3111225"/>
                </a:lnTo>
                <a:lnTo>
                  <a:pt x="0" y="31112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44000" y="1406105"/>
            <a:ext cx="5644995" cy="6063959"/>
          </a:xfrm>
          <a:custGeom>
            <a:avLst/>
            <a:gdLst/>
            <a:ahLst/>
            <a:cxnLst/>
            <a:rect r="r" b="b" t="t" l="l"/>
            <a:pathLst>
              <a:path h="6063959" w="5644995">
                <a:moveTo>
                  <a:pt x="0" y="0"/>
                </a:moveTo>
                <a:lnTo>
                  <a:pt x="5644995" y="0"/>
                </a:lnTo>
                <a:lnTo>
                  <a:pt x="5644995" y="6063959"/>
                </a:lnTo>
                <a:lnTo>
                  <a:pt x="0" y="606395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74275">
            <a:off x="5912320" y="213882"/>
            <a:ext cx="3163185" cy="2783603"/>
          </a:xfrm>
          <a:custGeom>
            <a:avLst/>
            <a:gdLst/>
            <a:ahLst/>
            <a:cxnLst/>
            <a:rect r="r" b="b" t="t" l="l"/>
            <a:pathLst>
              <a:path h="2783603" w="3163185">
                <a:moveTo>
                  <a:pt x="0" y="0"/>
                </a:moveTo>
                <a:lnTo>
                  <a:pt x="3163185" y="0"/>
                </a:lnTo>
                <a:lnTo>
                  <a:pt x="3163185" y="2783603"/>
                </a:lnTo>
                <a:lnTo>
                  <a:pt x="0" y="278360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09212" y="2619292"/>
            <a:ext cx="6967898" cy="1349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9"/>
              </a:lnSpc>
            </a:pPr>
            <a:r>
              <a:rPr lang="en-US" sz="8531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Problemas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2806" y="4707341"/>
            <a:ext cx="7527639" cy="253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815" indent="-279908" lvl="1">
              <a:lnSpc>
                <a:spcPts val="4096"/>
              </a:lnSpc>
              <a:buFont typeface="Arial"/>
              <a:buChar char="•"/>
            </a:pPr>
            <a:r>
              <a:rPr lang="en-US" sz="2592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Dificultad en diagnósticos rápidos y precisos.</a:t>
            </a:r>
          </a:p>
          <a:p>
            <a:pPr algn="l" marL="559815" indent="-279908" lvl="1">
              <a:lnSpc>
                <a:spcPts val="4096"/>
              </a:lnSpc>
              <a:buFont typeface="Arial"/>
              <a:buChar char="•"/>
            </a:pPr>
            <a:r>
              <a:rPr lang="en-US" sz="2592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Sobrecarga de exámenes por analizar.</a:t>
            </a:r>
          </a:p>
          <a:p>
            <a:pPr algn="l" marL="559815" indent="-279908" lvl="1">
              <a:lnSpc>
                <a:spcPts val="4096"/>
              </a:lnSpc>
              <a:buFont typeface="Arial"/>
              <a:buChar char="•"/>
            </a:pPr>
            <a:r>
              <a:rPr lang="en-US" sz="2592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Visual: Ícono de alerta ⚠️ sobre imágenes médicas.</a:t>
            </a:r>
          </a:p>
          <a:p>
            <a:pPr algn="l" marL="0" indent="0" lvl="0">
              <a:lnSpc>
                <a:spcPts val="409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959">
            <a:off x="-124309" y="-224387"/>
            <a:ext cx="18536618" cy="10735775"/>
          </a:xfrm>
          <a:custGeom>
            <a:avLst/>
            <a:gdLst/>
            <a:ahLst/>
            <a:cxnLst/>
            <a:rect r="r" b="b" t="t" l="l"/>
            <a:pathLst>
              <a:path h="10735775" w="18536618">
                <a:moveTo>
                  <a:pt x="254203" y="0"/>
                </a:moveTo>
                <a:lnTo>
                  <a:pt x="18536618" y="451916"/>
                </a:lnTo>
                <a:lnTo>
                  <a:pt x="18282415" y="10735774"/>
                </a:lnTo>
                <a:lnTo>
                  <a:pt x="0" y="10283858"/>
                </a:lnTo>
                <a:lnTo>
                  <a:pt x="254203" y="0"/>
                </a:lnTo>
                <a:close/>
              </a:path>
            </a:pathLst>
          </a:custGeom>
          <a:blipFill>
            <a:blip r:embed="rId2"/>
            <a:stretch>
              <a:fillRect l="-4032" t="-15869" r="-6526" b="-282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059743">
            <a:off x="-5968466" y="-6302716"/>
            <a:ext cx="11363375" cy="12302867"/>
          </a:xfrm>
          <a:custGeom>
            <a:avLst/>
            <a:gdLst/>
            <a:ahLst/>
            <a:cxnLst/>
            <a:rect r="r" b="b" t="t" l="l"/>
            <a:pathLst>
              <a:path h="12302867" w="11363375">
                <a:moveTo>
                  <a:pt x="0" y="0"/>
                </a:moveTo>
                <a:lnTo>
                  <a:pt x="11363375" y="0"/>
                </a:lnTo>
                <a:lnTo>
                  <a:pt x="11363375" y="12302867"/>
                </a:lnTo>
                <a:lnTo>
                  <a:pt x="0" y="12302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8681">
            <a:off x="1490576" y="1976367"/>
            <a:ext cx="6165054" cy="7149682"/>
          </a:xfrm>
          <a:custGeom>
            <a:avLst/>
            <a:gdLst/>
            <a:ahLst/>
            <a:cxnLst/>
            <a:rect r="r" b="b" t="t" l="l"/>
            <a:pathLst>
              <a:path h="7149682" w="6165054">
                <a:moveTo>
                  <a:pt x="0" y="0"/>
                </a:moveTo>
                <a:lnTo>
                  <a:pt x="6165055" y="0"/>
                </a:lnTo>
                <a:lnTo>
                  <a:pt x="6165055" y="7149682"/>
                </a:lnTo>
                <a:lnTo>
                  <a:pt x="0" y="71496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8725" t="0" r="-2023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27260">
            <a:off x="-546746" y="4409726"/>
            <a:ext cx="2530254" cy="1467547"/>
          </a:xfrm>
          <a:custGeom>
            <a:avLst/>
            <a:gdLst/>
            <a:ahLst/>
            <a:cxnLst/>
            <a:rect r="r" b="b" t="t" l="l"/>
            <a:pathLst>
              <a:path h="1467547" w="2530254">
                <a:moveTo>
                  <a:pt x="0" y="0"/>
                </a:moveTo>
                <a:lnTo>
                  <a:pt x="2530254" y="0"/>
                </a:lnTo>
                <a:lnTo>
                  <a:pt x="2530254" y="1467548"/>
                </a:lnTo>
                <a:lnTo>
                  <a:pt x="0" y="14675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404609">
            <a:off x="-618467" y="-1738434"/>
            <a:ext cx="3294335" cy="4592103"/>
          </a:xfrm>
          <a:custGeom>
            <a:avLst/>
            <a:gdLst/>
            <a:ahLst/>
            <a:cxnLst/>
            <a:rect r="r" b="b" t="t" l="l"/>
            <a:pathLst>
              <a:path h="4592103" w="3294335">
                <a:moveTo>
                  <a:pt x="0" y="0"/>
                </a:moveTo>
                <a:lnTo>
                  <a:pt x="3294334" y="0"/>
                </a:lnTo>
                <a:lnTo>
                  <a:pt x="3294334" y="4592103"/>
                </a:lnTo>
                <a:lnTo>
                  <a:pt x="0" y="45921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05700" y="6731874"/>
            <a:ext cx="2525944" cy="1310334"/>
          </a:xfrm>
          <a:custGeom>
            <a:avLst/>
            <a:gdLst/>
            <a:ahLst/>
            <a:cxnLst/>
            <a:rect r="r" b="b" t="t" l="l"/>
            <a:pathLst>
              <a:path h="1310334" w="2525944">
                <a:moveTo>
                  <a:pt x="0" y="0"/>
                </a:moveTo>
                <a:lnTo>
                  <a:pt x="2525944" y="0"/>
                </a:lnTo>
                <a:lnTo>
                  <a:pt x="2525944" y="1310334"/>
                </a:lnTo>
                <a:lnTo>
                  <a:pt x="0" y="13103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936769" y="7478190"/>
            <a:ext cx="5130721" cy="5289403"/>
          </a:xfrm>
          <a:custGeom>
            <a:avLst/>
            <a:gdLst/>
            <a:ahLst/>
            <a:cxnLst/>
            <a:rect r="r" b="b" t="t" l="l"/>
            <a:pathLst>
              <a:path h="5289403" w="5130721">
                <a:moveTo>
                  <a:pt x="0" y="0"/>
                </a:moveTo>
                <a:lnTo>
                  <a:pt x="5130721" y="0"/>
                </a:lnTo>
                <a:lnTo>
                  <a:pt x="5130721" y="5289403"/>
                </a:lnTo>
                <a:lnTo>
                  <a:pt x="0" y="52894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19796" y="8704070"/>
            <a:ext cx="3923948" cy="1289998"/>
          </a:xfrm>
          <a:custGeom>
            <a:avLst/>
            <a:gdLst/>
            <a:ahLst/>
            <a:cxnLst/>
            <a:rect r="r" b="b" t="t" l="l"/>
            <a:pathLst>
              <a:path h="1289998" w="3923948">
                <a:moveTo>
                  <a:pt x="0" y="0"/>
                </a:moveTo>
                <a:lnTo>
                  <a:pt x="3923948" y="0"/>
                </a:lnTo>
                <a:lnTo>
                  <a:pt x="3923948" y="1289998"/>
                </a:lnTo>
                <a:lnTo>
                  <a:pt x="0" y="12899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825701" y="5631495"/>
            <a:ext cx="8530778" cy="11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4"/>
              </a:lnSpc>
            </a:pPr>
            <a:r>
              <a:rPr lang="en-US" sz="1869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“Diagnostica Doc: una plataforma de IA con redes neuronales convolucionales (CNN) que analiza imágenes médicas y entrega sugerencias de diagnóstico con un porcentaje de confianza.”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61550" y="4636446"/>
            <a:ext cx="8697750" cy="68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3079" indent="-461539" lvl="1">
              <a:lnSpc>
                <a:spcPts val="5301"/>
              </a:lnSpc>
              <a:buFont typeface="Arial"/>
              <a:buChar char="•"/>
            </a:pPr>
            <a:r>
              <a:rPr lang="en-US" sz="4275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Solución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25701" y="2374025"/>
            <a:ext cx="8530778" cy="11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4"/>
              </a:lnSpc>
            </a:pPr>
            <a:r>
              <a:rPr lang="en-US" sz="1869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“Los médicos necesitan herramientas que agilicen el diagnóstico y entreguen apoyo confiable, manteniendo la privacidad y seguridad de los datos de pacientes.”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13900" y="1323419"/>
            <a:ext cx="8697750" cy="68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3079" indent="-461539" lvl="1">
              <a:lnSpc>
                <a:spcPts val="5301"/>
              </a:lnSpc>
              <a:buFont typeface="Arial"/>
              <a:buChar char="•"/>
            </a:pPr>
            <a:r>
              <a:rPr lang="en-US" sz="4275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Nececidad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959">
            <a:off x="-124309" y="-224387"/>
            <a:ext cx="18536618" cy="10735775"/>
          </a:xfrm>
          <a:custGeom>
            <a:avLst/>
            <a:gdLst/>
            <a:ahLst/>
            <a:cxnLst/>
            <a:rect r="r" b="b" t="t" l="l"/>
            <a:pathLst>
              <a:path h="10735775" w="18536618">
                <a:moveTo>
                  <a:pt x="254203" y="0"/>
                </a:moveTo>
                <a:lnTo>
                  <a:pt x="18536618" y="451916"/>
                </a:lnTo>
                <a:lnTo>
                  <a:pt x="18282415" y="10735774"/>
                </a:lnTo>
                <a:lnTo>
                  <a:pt x="0" y="10283858"/>
                </a:lnTo>
                <a:lnTo>
                  <a:pt x="254203" y="0"/>
                </a:lnTo>
                <a:close/>
              </a:path>
            </a:pathLst>
          </a:custGeom>
          <a:blipFill>
            <a:blip r:embed="rId2"/>
            <a:stretch>
              <a:fillRect l="-4032" t="-15869" r="-6526" b="-282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198542">
            <a:off x="-328206" y="4181902"/>
            <a:ext cx="21313866" cy="17204958"/>
          </a:xfrm>
          <a:custGeom>
            <a:avLst/>
            <a:gdLst/>
            <a:ahLst/>
            <a:cxnLst/>
            <a:rect r="r" b="b" t="t" l="l"/>
            <a:pathLst>
              <a:path h="17204958" w="21313866">
                <a:moveTo>
                  <a:pt x="0" y="0"/>
                </a:moveTo>
                <a:lnTo>
                  <a:pt x="21313865" y="0"/>
                </a:lnTo>
                <a:lnTo>
                  <a:pt x="21313865" y="17204958"/>
                </a:lnTo>
                <a:lnTo>
                  <a:pt x="0" y="172049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403937">
            <a:off x="742806" y="7926208"/>
            <a:ext cx="2734338" cy="1585916"/>
          </a:xfrm>
          <a:custGeom>
            <a:avLst/>
            <a:gdLst/>
            <a:ahLst/>
            <a:cxnLst/>
            <a:rect r="r" b="b" t="t" l="l"/>
            <a:pathLst>
              <a:path h="1585916" w="2734338">
                <a:moveTo>
                  <a:pt x="0" y="0"/>
                </a:moveTo>
                <a:lnTo>
                  <a:pt x="2734338" y="0"/>
                </a:lnTo>
                <a:lnTo>
                  <a:pt x="2734338" y="1585916"/>
                </a:lnTo>
                <a:lnTo>
                  <a:pt x="0" y="15859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2022" y="226786"/>
            <a:ext cx="15433862" cy="987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8"/>
              </a:lnSpc>
            </a:pPr>
            <a:r>
              <a:rPr lang="en-US" sz="6257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Historias de usuario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4404609">
            <a:off x="15488953" y="7419562"/>
            <a:ext cx="1653861" cy="2305383"/>
          </a:xfrm>
          <a:custGeom>
            <a:avLst/>
            <a:gdLst/>
            <a:ahLst/>
            <a:cxnLst/>
            <a:rect r="r" b="b" t="t" l="l"/>
            <a:pathLst>
              <a:path h="2305383" w="1653861">
                <a:moveTo>
                  <a:pt x="0" y="0"/>
                </a:moveTo>
                <a:lnTo>
                  <a:pt x="1653862" y="0"/>
                </a:lnTo>
                <a:lnTo>
                  <a:pt x="1653862" y="2305383"/>
                </a:lnTo>
                <a:lnTo>
                  <a:pt x="0" y="23053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318431">
            <a:off x="15037163" y="493408"/>
            <a:ext cx="2582547" cy="1070583"/>
          </a:xfrm>
          <a:custGeom>
            <a:avLst/>
            <a:gdLst/>
            <a:ahLst/>
            <a:cxnLst/>
            <a:rect r="r" b="b" t="t" l="l"/>
            <a:pathLst>
              <a:path h="1070583" w="2582547">
                <a:moveTo>
                  <a:pt x="0" y="0"/>
                </a:moveTo>
                <a:lnTo>
                  <a:pt x="2582547" y="0"/>
                </a:lnTo>
                <a:lnTo>
                  <a:pt x="2582547" y="1070584"/>
                </a:lnTo>
                <a:lnTo>
                  <a:pt x="0" y="10705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1214175"/>
            <a:ext cx="16433491" cy="8709750"/>
          </a:xfrm>
          <a:custGeom>
            <a:avLst/>
            <a:gdLst/>
            <a:ahLst/>
            <a:cxnLst/>
            <a:rect r="r" b="b" t="t" l="l"/>
            <a:pathLst>
              <a:path h="8709750" w="16433491">
                <a:moveTo>
                  <a:pt x="0" y="0"/>
                </a:moveTo>
                <a:lnTo>
                  <a:pt x="16433491" y="0"/>
                </a:lnTo>
                <a:lnTo>
                  <a:pt x="16433491" y="8709750"/>
                </a:lnTo>
                <a:lnTo>
                  <a:pt x="0" y="87097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959">
            <a:off x="-124309" y="-224387"/>
            <a:ext cx="18536618" cy="10735775"/>
          </a:xfrm>
          <a:custGeom>
            <a:avLst/>
            <a:gdLst/>
            <a:ahLst/>
            <a:cxnLst/>
            <a:rect r="r" b="b" t="t" l="l"/>
            <a:pathLst>
              <a:path h="10735775" w="18536618">
                <a:moveTo>
                  <a:pt x="254203" y="0"/>
                </a:moveTo>
                <a:lnTo>
                  <a:pt x="18536618" y="451916"/>
                </a:lnTo>
                <a:lnTo>
                  <a:pt x="18282415" y="10735774"/>
                </a:lnTo>
                <a:lnTo>
                  <a:pt x="0" y="10283858"/>
                </a:lnTo>
                <a:lnTo>
                  <a:pt x="254203" y="0"/>
                </a:lnTo>
                <a:close/>
              </a:path>
            </a:pathLst>
          </a:custGeom>
          <a:blipFill>
            <a:blip r:embed="rId2"/>
            <a:stretch>
              <a:fillRect l="-4032" t="-15869" r="-6526" b="-282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198542">
            <a:off x="-328206" y="4181902"/>
            <a:ext cx="21313866" cy="17204958"/>
          </a:xfrm>
          <a:custGeom>
            <a:avLst/>
            <a:gdLst/>
            <a:ahLst/>
            <a:cxnLst/>
            <a:rect r="r" b="b" t="t" l="l"/>
            <a:pathLst>
              <a:path h="17204958" w="21313866">
                <a:moveTo>
                  <a:pt x="0" y="0"/>
                </a:moveTo>
                <a:lnTo>
                  <a:pt x="21313865" y="0"/>
                </a:lnTo>
                <a:lnTo>
                  <a:pt x="21313865" y="17204958"/>
                </a:lnTo>
                <a:lnTo>
                  <a:pt x="0" y="172049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403937">
            <a:off x="742806" y="7926208"/>
            <a:ext cx="2734338" cy="1585916"/>
          </a:xfrm>
          <a:custGeom>
            <a:avLst/>
            <a:gdLst/>
            <a:ahLst/>
            <a:cxnLst/>
            <a:rect r="r" b="b" t="t" l="l"/>
            <a:pathLst>
              <a:path h="1585916" w="2734338">
                <a:moveTo>
                  <a:pt x="0" y="0"/>
                </a:moveTo>
                <a:lnTo>
                  <a:pt x="2734338" y="0"/>
                </a:lnTo>
                <a:lnTo>
                  <a:pt x="2734338" y="1585916"/>
                </a:lnTo>
                <a:lnTo>
                  <a:pt x="0" y="15859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2022" y="226786"/>
            <a:ext cx="15433862" cy="987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58"/>
              </a:lnSpc>
            </a:pPr>
            <a:r>
              <a:rPr lang="en-US" sz="6257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RF  Y NRF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4404609">
            <a:off x="15488953" y="7419562"/>
            <a:ext cx="1653861" cy="2305383"/>
          </a:xfrm>
          <a:custGeom>
            <a:avLst/>
            <a:gdLst/>
            <a:ahLst/>
            <a:cxnLst/>
            <a:rect r="r" b="b" t="t" l="l"/>
            <a:pathLst>
              <a:path h="2305383" w="1653861">
                <a:moveTo>
                  <a:pt x="0" y="0"/>
                </a:moveTo>
                <a:lnTo>
                  <a:pt x="1653862" y="0"/>
                </a:lnTo>
                <a:lnTo>
                  <a:pt x="1653862" y="2305383"/>
                </a:lnTo>
                <a:lnTo>
                  <a:pt x="0" y="23053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0318431">
            <a:off x="15037163" y="493408"/>
            <a:ext cx="2582547" cy="1070583"/>
          </a:xfrm>
          <a:custGeom>
            <a:avLst/>
            <a:gdLst/>
            <a:ahLst/>
            <a:cxnLst/>
            <a:rect r="r" b="b" t="t" l="l"/>
            <a:pathLst>
              <a:path h="1070583" w="2582547">
                <a:moveTo>
                  <a:pt x="0" y="0"/>
                </a:moveTo>
                <a:lnTo>
                  <a:pt x="2582547" y="0"/>
                </a:lnTo>
                <a:lnTo>
                  <a:pt x="2582547" y="1070584"/>
                </a:lnTo>
                <a:lnTo>
                  <a:pt x="0" y="10705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6210" y="1138761"/>
            <a:ext cx="17370486" cy="8989227"/>
          </a:xfrm>
          <a:custGeom>
            <a:avLst/>
            <a:gdLst/>
            <a:ahLst/>
            <a:cxnLst/>
            <a:rect r="r" b="b" t="t" l="l"/>
            <a:pathLst>
              <a:path h="8989227" w="17370486">
                <a:moveTo>
                  <a:pt x="0" y="0"/>
                </a:moveTo>
                <a:lnTo>
                  <a:pt x="17370486" y="0"/>
                </a:lnTo>
                <a:lnTo>
                  <a:pt x="17370486" y="8989227"/>
                </a:lnTo>
                <a:lnTo>
                  <a:pt x="0" y="89892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959">
            <a:off x="-124309" y="-224387"/>
            <a:ext cx="18536618" cy="10735775"/>
          </a:xfrm>
          <a:custGeom>
            <a:avLst/>
            <a:gdLst/>
            <a:ahLst/>
            <a:cxnLst/>
            <a:rect r="r" b="b" t="t" l="l"/>
            <a:pathLst>
              <a:path h="10735775" w="18536618">
                <a:moveTo>
                  <a:pt x="254203" y="0"/>
                </a:moveTo>
                <a:lnTo>
                  <a:pt x="18536618" y="451916"/>
                </a:lnTo>
                <a:lnTo>
                  <a:pt x="18282415" y="10735774"/>
                </a:lnTo>
                <a:lnTo>
                  <a:pt x="0" y="10283858"/>
                </a:lnTo>
                <a:lnTo>
                  <a:pt x="254203" y="0"/>
                </a:lnTo>
                <a:close/>
              </a:path>
            </a:pathLst>
          </a:custGeom>
          <a:blipFill>
            <a:blip r:embed="rId2"/>
            <a:stretch>
              <a:fillRect l="-4032" t="-15869" r="-6526" b="-282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166858">
            <a:off x="-10554308" y="-1179335"/>
            <a:ext cx="12839835" cy="13901396"/>
          </a:xfrm>
          <a:custGeom>
            <a:avLst/>
            <a:gdLst/>
            <a:ahLst/>
            <a:cxnLst/>
            <a:rect r="r" b="b" t="t" l="l"/>
            <a:pathLst>
              <a:path h="13901396" w="12839835">
                <a:moveTo>
                  <a:pt x="0" y="0"/>
                </a:moveTo>
                <a:lnTo>
                  <a:pt x="12839835" y="0"/>
                </a:lnTo>
                <a:lnTo>
                  <a:pt x="12839835" y="13901396"/>
                </a:lnTo>
                <a:lnTo>
                  <a:pt x="0" y="139013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1982" y="1338546"/>
            <a:ext cx="7495681" cy="7643140"/>
          </a:xfrm>
          <a:custGeom>
            <a:avLst/>
            <a:gdLst/>
            <a:ahLst/>
            <a:cxnLst/>
            <a:rect r="r" b="b" t="t" l="l"/>
            <a:pathLst>
              <a:path h="7643140" w="7495681">
                <a:moveTo>
                  <a:pt x="0" y="0"/>
                </a:moveTo>
                <a:lnTo>
                  <a:pt x="7495681" y="0"/>
                </a:lnTo>
                <a:lnTo>
                  <a:pt x="7495681" y="7643140"/>
                </a:lnTo>
                <a:lnTo>
                  <a:pt x="0" y="76431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10431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318497" y="1894888"/>
            <a:ext cx="8647433" cy="4315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3"/>
              </a:lnSpc>
            </a:pPr>
            <a:r>
              <a:rPr lang="en-US" sz="2749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se utilizará una </a:t>
            </a:r>
            <a:r>
              <a:rPr lang="en-US" b="true" sz="2749">
                <a:solidFill>
                  <a:srgbClr val="003060"/>
                </a:solidFill>
                <a:latin typeface="Nunito Bold"/>
                <a:ea typeface="Nunito Bold"/>
                <a:cs typeface="Nunito Bold"/>
                <a:sym typeface="Nunito Bold"/>
              </a:rPr>
              <a:t>metodología ágil (Scrum)</a:t>
            </a:r>
            <a:r>
              <a:rPr lang="en-US" sz="2749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, la cual se basa en el trabajo colaborativo, entregas incrementales y revisiones continuas. Scrum organiza el proyecto en sprints (iteraciones cortas de 2 a 3 semanas), en los que el equipo entrega resultados parciales y funcionales que permiten validar avances y realizar ajustes de forma iterativa.</a:t>
            </a:r>
          </a:p>
          <a:p>
            <a:pPr algn="l" marL="0" indent="0" lvl="0">
              <a:lnSpc>
                <a:spcPts val="434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983612" y="85093"/>
            <a:ext cx="7800259" cy="163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9"/>
              </a:lnSpc>
            </a:pPr>
            <a:r>
              <a:rPr lang="en-US" sz="10386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Metodología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18497" y="5892662"/>
            <a:ext cx="8806753" cy="377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3"/>
              </a:lnSpc>
            </a:pPr>
            <a:r>
              <a:rPr lang="en-US" sz="2749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En cada sprint se planifican actividades, se ejecutan las tareas definidas en el Product Backlog, y se revisan los resultados con el equipo y los interesados. </a:t>
            </a:r>
          </a:p>
          <a:p>
            <a:pPr algn="l" marL="0" indent="0" lvl="0">
              <a:lnSpc>
                <a:spcPts val="4343"/>
              </a:lnSpc>
            </a:pPr>
            <a:r>
              <a:rPr lang="en-US" sz="2749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Este enfoque asegura </a:t>
            </a:r>
            <a:r>
              <a:rPr lang="en-US" b="true" sz="2749">
                <a:solidFill>
                  <a:srgbClr val="003060"/>
                </a:solidFill>
                <a:latin typeface="Nunito Bold"/>
                <a:ea typeface="Nunito Bold"/>
                <a:cs typeface="Nunito Bold"/>
                <a:sym typeface="Nunito Bold"/>
              </a:rPr>
              <a:t>flexibilidad, calidad y alineación con los objetivos del proyecto, adaptándose a cambios que surjan durante el desarrollo.</a:t>
            </a:r>
          </a:p>
          <a:p>
            <a:pPr algn="l" marL="0" indent="0" lvl="0">
              <a:lnSpc>
                <a:spcPts val="4343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4404609">
            <a:off x="-965008" y="-1614472"/>
            <a:ext cx="3294335" cy="4592103"/>
          </a:xfrm>
          <a:custGeom>
            <a:avLst/>
            <a:gdLst/>
            <a:ahLst/>
            <a:cxnLst/>
            <a:rect r="r" b="b" t="t" l="l"/>
            <a:pathLst>
              <a:path h="4592103" w="3294335">
                <a:moveTo>
                  <a:pt x="0" y="0"/>
                </a:moveTo>
                <a:lnTo>
                  <a:pt x="3294335" y="0"/>
                </a:lnTo>
                <a:lnTo>
                  <a:pt x="3294335" y="4592103"/>
                </a:lnTo>
                <a:lnTo>
                  <a:pt x="0" y="45921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318431">
            <a:off x="15780837" y="709033"/>
            <a:ext cx="2675838" cy="1109256"/>
          </a:xfrm>
          <a:custGeom>
            <a:avLst/>
            <a:gdLst/>
            <a:ahLst/>
            <a:cxnLst/>
            <a:rect r="r" b="b" t="t" l="l"/>
            <a:pathLst>
              <a:path h="1109256" w="2675838">
                <a:moveTo>
                  <a:pt x="0" y="0"/>
                </a:moveTo>
                <a:lnTo>
                  <a:pt x="2675838" y="0"/>
                </a:lnTo>
                <a:lnTo>
                  <a:pt x="2675838" y="1109256"/>
                </a:lnTo>
                <a:lnTo>
                  <a:pt x="0" y="11092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404609">
            <a:off x="17184133" y="7990948"/>
            <a:ext cx="3294335" cy="4592103"/>
          </a:xfrm>
          <a:custGeom>
            <a:avLst/>
            <a:gdLst/>
            <a:ahLst/>
            <a:cxnLst/>
            <a:rect r="r" b="b" t="t" l="l"/>
            <a:pathLst>
              <a:path h="4592103" w="3294335">
                <a:moveTo>
                  <a:pt x="0" y="0"/>
                </a:moveTo>
                <a:lnTo>
                  <a:pt x="3294335" y="0"/>
                </a:lnTo>
                <a:lnTo>
                  <a:pt x="3294335" y="4592104"/>
                </a:lnTo>
                <a:lnTo>
                  <a:pt x="0" y="45921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959">
            <a:off x="-124309" y="-224387"/>
            <a:ext cx="18536618" cy="10735775"/>
          </a:xfrm>
          <a:custGeom>
            <a:avLst/>
            <a:gdLst/>
            <a:ahLst/>
            <a:cxnLst/>
            <a:rect r="r" b="b" t="t" l="l"/>
            <a:pathLst>
              <a:path h="10735775" w="18536618">
                <a:moveTo>
                  <a:pt x="254203" y="0"/>
                </a:moveTo>
                <a:lnTo>
                  <a:pt x="18536618" y="451916"/>
                </a:lnTo>
                <a:lnTo>
                  <a:pt x="18282415" y="10735774"/>
                </a:lnTo>
                <a:lnTo>
                  <a:pt x="0" y="10283858"/>
                </a:lnTo>
                <a:lnTo>
                  <a:pt x="254203" y="0"/>
                </a:lnTo>
                <a:close/>
              </a:path>
            </a:pathLst>
          </a:custGeom>
          <a:blipFill>
            <a:blip r:embed="rId2"/>
            <a:stretch>
              <a:fillRect l="-4032" t="-15869" r="-6526" b="-282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84841" y="1180896"/>
            <a:ext cx="4237212" cy="8443719"/>
          </a:xfrm>
          <a:custGeom>
            <a:avLst/>
            <a:gdLst/>
            <a:ahLst/>
            <a:cxnLst/>
            <a:rect r="r" b="b" t="t" l="l"/>
            <a:pathLst>
              <a:path h="8443719" w="4237212">
                <a:moveTo>
                  <a:pt x="0" y="0"/>
                </a:moveTo>
                <a:lnTo>
                  <a:pt x="4237212" y="0"/>
                </a:lnTo>
                <a:lnTo>
                  <a:pt x="4237212" y="8443719"/>
                </a:lnTo>
                <a:lnTo>
                  <a:pt x="0" y="84437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059743">
            <a:off x="-8758783" y="-6393120"/>
            <a:ext cx="11363375" cy="12302867"/>
          </a:xfrm>
          <a:custGeom>
            <a:avLst/>
            <a:gdLst/>
            <a:ahLst/>
            <a:cxnLst/>
            <a:rect r="r" b="b" t="t" l="l"/>
            <a:pathLst>
              <a:path h="12302867" w="11363375">
                <a:moveTo>
                  <a:pt x="0" y="0"/>
                </a:moveTo>
                <a:lnTo>
                  <a:pt x="11363375" y="0"/>
                </a:lnTo>
                <a:lnTo>
                  <a:pt x="11363375" y="12302867"/>
                </a:lnTo>
                <a:lnTo>
                  <a:pt x="0" y="12302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1266" y="2439259"/>
            <a:ext cx="10097604" cy="378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4"/>
              </a:lnSpc>
            </a:pPr>
            <a:r>
              <a:rPr lang="en-US" sz="2028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Scrum Master ( Diseño y desarrollo de software (frontend/backend).)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1266" y="1320567"/>
            <a:ext cx="10097604" cy="105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8"/>
              </a:lnSpc>
            </a:pPr>
            <a:r>
              <a:rPr lang="en-US" sz="6659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01. Juan Araneda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1266" y="5221781"/>
            <a:ext cx="10097604" cy="378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4"/>
              </a:lnSpc>
            </a:pPr>
            <a:r>
              <a:rPr lang="en-US" sz="2028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Integración del modelo de IA al sistema y bases de datos.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1266" y="4061931"/>
            <a:ext cx="10097604" cy="105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8"/>
              </a:lnSpc>
            </a:pPr>
            <a:r>
              <a:rPr lang="en-US" sz="6659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02. Pedro Guzman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1266" y="7966202"/>
            <a:ext cx="10097604" cy="378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4"/>
              </a:lnSpc>
            </a:pPr>
            <a:r>
              <a:rPr lang="en-US" sz="2028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Desarrollo, pruebas y validación del modelo CNN.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1266" y="6806352"/>
            <a:ext cx="10097604" cy="105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8"/>
              </a:lnSpc>
            </a:pPr>
            <a:r>
              <a:rPr lang="en-US" sz="6659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03. Ana González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3705759">
            <a:off x="15893718" y="1416930"/>
            <a:ext cx="2845453" cy="1650362"/>
          </a:xfrm>
          <a:custGeom>
            <a:avLst/>
            <a:gdLst/>
            <a:ahLst/>
            <a:cxnLst/>
            <a:rect r="r" b="b" t="t" l="l"/>
            <a:pathLst>
              <a:path h="1650362" w="2845453">
                <a:moveTo>
                  <a:pt x="0" y="0"/>
                </a:moveTo>
                <a:lnTo>
                  <a:pt x="2845453" y="0"/>
                </a:lnTo>
                <a:lnTo>
                  <a:pt x="2845453" y="1650363"/>
                </a:lnTo>
                <a:lnTo>
                  <a:pt x="0" y="16503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3334887">
            <a:off x="9349276" y="-2089845"/>
            <a:ext cx="3294335" cy="4592103"/>
          </a:xfrm>
          <a:custGeom>
            <a:avLst/>
            <a:gdLst/>
            <a:ahLst/>
            <a:cxnLst/>
            <a:rect r="r" b="b" t="t" l="l"/>
            <a:pathLst>
              <a:path h="4592103" w="3294335">
                <a:moveTo>
                  <a:pt x="0" y="0"/>
                </a:moveTo>
                <a:lnTo>
                  <a:pt x="3294335" y="0"/>
                </a:lnTo>
                <a:lnTo>
                  <a:pt x="3294335" y="4592104"/>
                </a:lnTo>
                <a:lnTo>
                  <a:pt x="0" y="45921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448271" y="-47625"/>
            <a:ext cx="10097604" cy="1181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50"/>
              </a:lnSpc>
            </a:pPr>
            <a:r>
              <a:rPr lang="en-US" sz="7459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Roles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959">
            <a:off x="-124309" y="-224387"/>
            <a:ext cx="18536618" cy="10735775"/>
          </a:xfrm>
          <a:custGeom>
            <a:avLst/>
            <a:gdLst/>
            <a:ahLst/>
            <a:cxnLst/>
            <a:rect r="r" b="b" t="t" l="l"/>
            <a:pathLst>
              <a:path h="10735775" w="18536618">
                <a:moveTo>
                  <a:pt x="254203" y="0"/>
                </a:moveTo>
                <a:lnTo>
                  <a:pt x="18536618" y="451916"/>
                </a:lnTo>
                <a:lnTo>
                  <a:pt x="18282415" y="10735774"/>
                </a:lnTo>
                <a:lnTo>
                  <a:pt x="0" y="10283858"/>
                </a:lnTo>
                <a:lnTo>
                  <a:pt x="254203" y="0"/>
                </a:lnTo>
                <a:close/>
              </a:path>
            </a:pathLst>
          </a:custGeom>
          <a:blipFill>
            <a:blip r:embed="rId2"/>
            <a:stretch>
              <a:fillRect l="-4032" t="-15869" r="-6526" b="-282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751311">
            <a:off x="-6537685" y="5754102"/>
            <a:ext cx="10509224" cy="11378097"/>
          </a:xfrm>
          <a:custGeom>
            <a:avLst/>
            <a:gdLst/>
            <a:ahLst/>
            <a:cxnLst/>
            <a:rect r="r" b="b" t="t" l="l"/>
            <a:pathLst>
              <a:path h="11378097" w="10509224">
                <a:moveTo>
                  <a:pt x="0" y="0"/>
                </a:moveTo>
                <a:lnTo>
                  <a:pt x="10509224" y="0"/>
                </a:lnTo>
                <a:lnTo>
                  <a:pt x="10509224" y="11378097"/>
                </a:lnTo>
                <a:lnTo>
                  <a:pt x="0" y="11378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261362">
            <a:off x="-341238" y="8214453"/>
            <a:ext cx="2353382" cy="1364962"/>
          </a:xfrm>
          <a:custGeom>
            <a:avLst/>
            <a:gdLst/>
            <a:ahLst/>
            <a:cxnLst/>
            <a:rect r="r" b="b" t="t" l="l"/>
            <a:pathLst>
              <a:path h="1364962" w="2353382">
                <a:moveTo>
                  <a:pt x="0" y="0"/>
                </a:moveTo>
                <a:lnTo>
                  <a:pt x="2353383" y="0"/>
                </a:lnTo>
                <a:lnTo>
                  <a:pt x="2353383" y="1364962"/>
                </a:lnTo>
                <a:lnTo>
                  <a:pt x="0" y="1364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059743">
            <a:off x="13713582" y="-6314437"/>
            <a:ext cx="10509224" cy="11378097"/>
          </a:xfrm>
          <a:custGeom>
            <a:avLst/>
            <a:gdLst/>
            <a:ahLst/>
            <a:cxnLst/>
            <a:rect r="r" b="b" t="t" l="l"/>
            <a:pathLst>
              <a:path h="11378097" w="10509224">
                <a:moveTo>
                  <a:pt x="0" y="0"/>
                </a:moveTo>
                <a:lnTo>
                  <a:pt x="10509224" y="0"/>
                </a:lnTo>
                <a:lnTo>
                  <a:pt x="10509224" y="11378097"/>
                </a:lnTo>
                <a:lnTo>
                  <a:pt x="0" y="113780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854020">
            <a:off x="15923354" y="346219"/>
            <a:ext cx="2353382" cy="1364962"/>
          </a:xfrm>
          <a:custGeom>
            <a:avLst/>
            <a:gdLst/>
            <a:ahLst/>
            <a:cxnLst/>
            <a:rect r="r" b="b" t="t" l="l"/>
            <a:pathLst>
              <a:path h="1364962" w="2353382">
                <a:moveTo>
                  <a:pt x="0" y="0"/>
                </a:moveTo>
                <a:lnTo>
                  <a:pt x="2353382" y="0"/>
                </a:lnTo>
                <a:lnTo>
                  <a:pt x="2353382" y="1364962"/>
                </a:lnTo>
                <a:lnTo>
                  <a:pt x="0" y="13649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4893" y="655496"/>
            <a:ext cx="4957465" cy="4114800"/>
          </a:xfrm>
          <a:custGeom>
            <a:avLst/>
            <a:gdLst/>
            <a:ahLst/>
            <a:cxnLst/>
            <a:rect r="r" b="b" t="t" l="l"/>
            <a:pathLst>
              <a:path h="4114800" w="4957465">
                <a:moveTo>
                  <a:pt x="0" y="0"/>
                </a:moveTo>
                <a:lnTo>
                  <a:pt x="4957465" y="0"/>
                </a:lnTo>
                <a:lnTo>
                  <a:pt x="49574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65036" y="1659147"/>
            <a:ext cx="4957465" cy="4114800"/>
          </a:xfrm>
          <a:custGeom>
            <a:avLst/>
            <a:gdLst/>
            <a:ahLst/>
            <a:cxnLst/>
            <a:rect r="r" b="b" t="t" l="l"/>
            <a:pathLst>
              <a:path h="4114800" w="4957465">
                <a:moveTo>
                  <a:pt x="0" y="0"/>
                </a:moveTo>
                <a:lnTo>
                  <a:pt x="4957465" y="0"/>
                </a:lnTo>
                <a:lnTo>
                  <a:pt x="49574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66896" y="3785429"/>
            <a:ext cx="4957465" cy="4114800"/>
          </a:xfrm>
          <a:custGeom>
            <a:avLst/>
            <a:gdLst/>
            <a:ahLst/>
            <a:cxnLst/>
            <a:rect r="r" b="b" t="t" l="l"/>
            <a:pathLst>
              <a:path h="4114800" w="4957465">
                <a:moveTo>
                  <a:pt x="0" y="0"/>
                </a:moveTo>
                <a:lnTo>
                  <a:pt x="4957465" y="0"/>
                </a:lnTo>
                <a:lnTo>
                  <a:pt x="49574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526678" y="4782134"/>
            <a:ext cx="4957465" cy="4114800"/>
          </a:xfrm>
          <a:custGeom>
            <a:avLst/>
            <a:gdLst/>
            <a:ahLst/>
            <a:cxnLst/>
            <a:rect r="r" b="b" t="t" l="l"/>
            <a:pathLst>
              <a:path h="4114800" w="4957465">
                <a:moveTo>
                  <a:pt x="0" y="0"/>
                </a:moveTo>
                <a:lnTo>
                  <a:pt x="4957466" y="0"/>
                </a:lnTo>
                <a:lnTo>
                  <a:pt x="49574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18062" y="2921210"/>
            <a:ext cx="4957465" cy="4114800"/>
          </a:xfrm>
          <a:custGeom>
            <a:avLst/>
            <a:gdLst/>
            <a:ahLst/>
            <a:cxnLst/>
            <a:rect r="r" b="b" t="t" l="l"/>
            <a:pathLst>
              <a:path h="4114800" w="4957465">
                <a:moveTo>
                  <a:pt x="0" y="0"/>
                </a:moveTo>
                <a:lnTo>
                  <a:pt x="4957465" y="0"/>
                </a:lnTo>
                <a:lnTo>
                  <a:pt x="49574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010729" y="6078922"/>
            <a:ext cx="4957465" cy="4114800"/>
          </a:xfrm>
          <a:custGeom>
            <a:avLst/>
            <a:gdLst/>
            <a:ahLst/>
            <a:cxnLst/>
            <a:rect r="r" b="b" t="t" l="l"/>
            <a:pathLst>
              <a:path h="4114800" w="4957465">
                <a:moveTo>
                  <a:pt x="0" y="0"/>
                </a:moveTo>
                <a:lnTo>
                  <a:pt x="4957465" y="0"/>
                </a:lnTo>
                <a:lnTo>
                  <a:pt x="49574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684618" y="811663"/>
            <a:ext cx="2679488" cy="3451331"/>
          </a:xfrm>
          <a:custGeom>
            <a:avLst/>
            <a:gdLst/>
            <a:ahLst/>
            <a:cxnLst/>
            <a:rect r="r" b="b" t="t" l="l"/>
            <a:pathLst>
              <a:path h="3451331" w="2679488">
                <a:moveTo>
                  <a:pt x="0" y="0"/>
                </a:moveTo>
                <a:lnTo>
                  <a:pt x="2679487" y="0"/>
                </a:lnTo>
                <a:lnTo>
                  <a:pt x="2679487" y="3451331"/>
                </a:lnTo>
                <a:lnTo>
                  <a:pt x="0" y="34513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872258" y="6671004"/>
            <a:ext cx="2706445" cy="2691683"/>
          </a:xfrm>
          <a:custGeom>
            <a:avLst/>
            <a:gdLst/>
            <a:ahLst/>
            <a:cxnLst/>
            <a:rect r="r" b="b" t="t" l="l"/>
            <a:pathLst>
              <a:path h="2691683" w="2706445">
                <a:moveTo>
                  <a:pt x="0" y="0"/>
                </a:moveTo>
                <a:lnTo>
                  <a:pt x="2706446" y="0"/>
                </a:lnTo>
                <a:lnTo>
                  <a:pt x="2706446" y="2691683"/>
                </a:lnTo>
                <a:lnTo>
                  <a:pt x="0" y="26916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073579" y="-42016"/>
            <a:ext cx="8115300" cy="156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39"/>
              </a:lnSpc>
            </a:pPr>
            <a:r>
              <a:rPr lang="en-US" sz="9951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Road Map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22572" y="2023979"/>
            <a:ext cx="8036494" cy="51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258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Sprint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48238" y="1009650"/>
            <a:ext cx="8036494" cy="51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258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Sprint 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24488" y="3272079"/>
            <a:ext cx="8036494" cy="51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258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Sprint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51506" y="4256946"/>
            <a:ext cx="8036494" cy="51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258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Sprint 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07678" y="5260597"/>
            <a:ext cx="8036494" cy="51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258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Sprint 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235192" y="6404804"/>
            <a:ext cx="8036494" cy="51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0"/>
              </a:lnSpc>
            </a:pPr>
            <a:r>
              <a:rPr lang="en-US" sz="3258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Sprint 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2329" y="2132871"/>
            <a:ext cx="3543020" cy="184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4"/>
              </a:lnSpc>
            </a:pPr>
            <a:r>
              <a:rPr lang="en-US" sz="2369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Conformación de equipo, setup de entornos y definición de backlog inicial.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72258" y="3545921"/>
            <a:ext cx="3386684" cy="137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4"/>
              </a:lnSpc>
            </a:pPr>
            <a:r>
              <a:rPr lang="en-US" sz="2369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Implementación de carga y almacenamiento de imágenes.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66485" y="4549572"/>
            <a:ext cx="3104305" cy="137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4"/>
              </a:lnSpc>
            </a:pPr>
            <a:r>
              <a:rPr lang="en-US" sz="2369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Desarrollo del módulo de preprocesamiento de imágenes.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95105" y="5437046"/>
            <a:ext cx="3543020" cy="137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4"/>
              </a:lnSpc>
            </a:pPr>
            <a:r>
              <a:rPr lang="en-US" sz="2369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Entrenamiento y validación del modelo CNN.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39219" y="6642421"/>
            <a:ext cx="3270714" cy="137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4"/>
              </a:lnSpc>
            </a:pPr>
            <a:r>
              <a:rPr lang="en-US" sz="2369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Desarrollo de la interfaz y visualización de resultados.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744980" y="8173781"/>
            <a:ext cx="3543020" cy="9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4"/>
              </a:lnSpc>
            </a:pPr>
            <a:r>
              <a:rPr lang="en-US" sz="2369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Validación final, pruebas de rendimiento y entrega.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959">
            <a:off x="-124309" y="-224387"/>
            <a:ext cx="18536618" cy="10735775"/>
          </a:xfrm>
          <a:custGeom>
            <a:avLst/>
            <a:gdLst/>
            <a:ahLst/>
            <a:cxnLst/>
            <a:rect r="r" b="b" t="t" l="l"/>
            <a:pathLst>
              <a:path h="10735775" w="18536618">
                <a:moveTo>
                  <a:pt x="254203" y="0"/>
                </a:moveTo>
                <a:lnTo>
                  <a:pt x="18536618" y="451916"/>
                </a:lnTo>
                <a:lnTo>
                  <a:pt x="18282415" y="10735774"/>
                </a:lnTo>
                <a:lnTo>
                  <a:pt x="0" y="10283858"/>
                </a:lnTo>
                <a:lnTo>
                  <a:pt x="254203" y="0"/>
                </a:lnTo>
                <a:close/>
              </a:path>
            </a:pathLst>
          </a:custGeom>
          <a:blipFill>
            <a:blip r:embed="rId2"/>
            <a:stretch>
              <a:fillRect l="-4032" t="-15869" r="-6526" b="-282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4175">
            <a:off x="-2489449" y="-8571173"/>
            <a:ext cx="11363375" cy="12302867"/>
          </a:xfrm>
          <a:custGeom>
            <a:avLst/>
            <a:gdLst/>
            <a:ahLst/>
            <a:cxnLst/>
            <a:rect r="r" b="b" t="t" l="l"/>
            <a:pathLst>
              <a:path h="12302867" w="11363375">
                <a:moveTo>
                  <a:pt x="0" y="0"/>
                </a:moveTo>
                <a:lnTo>
                  <a:pt x="11363375" y="0"/>
                </a:lnTo>
                <a:lnTo>
                  <a:pt x="11363375" y="12302867"/>
                </a:lnTo>
                <a:lnTo>
                  <a:pt x="0" y="12302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83954" y="-57150"/>
            <a:ext cx="8115300" cy="1565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39"/>
              </a:lnSpc>
            </a:pPr>
            <a:r>
              <a:rPr lang="en-US" sz="9951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Cronologia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8504695">
            <a:off x="-604079" y="807598"/>
            <a:ext cx="3265558" cy="1894024"/>
          </a:xfrm>
          <a:custGeom>
            <a:avLst/>
            <a:gdLst/>
            <a:ahLst/>
            <a:cxnLst/>
            <a:rect r="r" b="b" t="t" l="l"/>
            <a:pathLst>
              <a:path h="1894024" w="3265558">
                <a:moveTo>
                  <a:pt x="0" y="0"/>
                </a:moveTo>
                <a:lnTo>
                  <a:pt x="3265558" y="0"/>
                </a:lnTo>
                <a:lnTo>
                  <a:pt x="3265558" y="1894024"/>
                </a:lnTo>
                <a:lnTo>
                  <a:pt x="0" y="1894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334887">
            <a:off x="8061604" y="-2059186"/>
            <a:ext cx="3294335" cy="4592103"/>
          </a:xfrm>
          <a:custGeom>
            <a:avLst/>
            <a:gdLst/>
            <a:ahLst/>
            <a:cxnLst/>
            <a:rect r="r" b="b" t="t" l="l"/>
            <a:pathLst>
              <a:path h="4592103" w="3294335">
                <a:moveTo>
                  <a:pt x="0" y="0"/>
                </a:moveTo>
                <a:lnTo>
                  <a:pt x="3294335" y="0"/>
                </a:lnTo>
                <a:lnTo>
                  <a:pt x="3294335" y="4592103"/>
                </a:lnTo>
                <a:lnTo>
                  <a:pt x="0" y="45921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97312" y="6036118"/>
            <a:ext cx="5190688" cy="4114800"/>
          </a:xfrm>
          <a:custGeom>
            <a:avLst/>
            <a:gdLst/>
            <a:ahLst/>
            <a:cxnLst/>
            <a:rect r="r" b="b" t="t" l="l"/>
            <a:pathLst>
              <a:path h="4114800" w="5190688">
                <a:moveTo>
                  <a:pt x="0" y="0"/>
                </a:moveTo>
                <a:lnTo>
                  <a:pt x="5190688" y="0"/>
                </a:lnTo>
                <a:lnTo>
                  <a:pt x="519068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5601" y="1754610"/>
            <a:ext cx="11399921" cy="8492941"/>
          </a:xfrm>
          <a:custGeom>
            <a:avLst/>
            <a:gdLst/>
            <a:ahLst/>
            <a:cxnLst/>
            <a:rect r="r" b="b" t="t" l="l"/>
            <a:pathLst>
              <a:path h="8492941" w="11399921">
                <a:moveTo>
                  <a:pt x="0" y="0"/>
                </a:moveTo>
                <a:lnTo>
                  <a:pt x="11399921" y="0"/>
                </a:lnTo>
                <a:lnTo>
                  <a:pt x="11399921" y="8492941"/>
                </a:lnTo>
                <a:lnTo>
                  <a:pt x="0" y="84929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0975" y="9763885"/>
            <a:ext cx="7800259" cy="1143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9"/>
              </a:lnSpc>
            </a:pPr>
            <a:r>
              <a:rPr lang="en-US" sz="2949">
                <a:solidFill>
                  <a:srgbClr val="003060"/>
                </a:solidFill>
                <a:latin typeface="Nunito"/>
                <a:ea typeface="Nunito"/>
                <a:cs typeface="Nunito"/>
                <a:sym typeface="Nunito"/>
              </a:rPr>
              <a:t>carta gantt</a:t>
            </a:r>
          </a:p>
          <a:p>
            <a:pPr algn="l" marL="0" indent="0" lvl="0">
              <a:lnSpc>
                <a:spcPts val="46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4959">
            <a:off x="-124309" y="-224387"/>
            <a:ext cx="18536618" cy="10735775"/>
          </a:xfrm>
          <a:custGeom>
            <a:avLst/>
            <a:gdLst/>
            <a:ahLst/>
            <a:cxnLst/>
            <a:rect r="r" b="b" t="t" l="l"/>
            <a:pathLst>
              <a:path h="10735775" w="18536618">
                <a:moveTo>
                  <a:pt x="254203" y="0"/>
                </a:moveTo>
                <a:lnTo>
                  <a:pt x="18536618" y="451916"/>
                </a:lnTo>
                <a:lnTo>
                  <a:pt x="18282415" y="10735774"/>
                </a:lnTo>
                <a:lnTo>
                  <a:pt x="0" y="10283858"/>
                </a:lnTo>
                <a:lnTo>
                  <a:pt x="254203" y="0"/>
                </a:lnTo>
                <a:close/>
              </a:path>
            </a:pathLst>
          </a:custGeom>
          <a:blipFill>
            <a:blip r:embed="rId2"/>
            <a:stretch>
              <a:fillRect l="-4032" t="-15869" r="-6526" b="-282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410082">
            <a:off x="-3544984" y="72479"/>
            <a:ext cx="14301857" cy="11544731"/>
          </a:xfrm>
          <a:custGeom>
            <a:avLst/>
            <a:gdLst/>
            <a:ahLst/>
            <a:cxnLst/>
            <a:rect r="r" b="b" t="t" l="l"/>
            <a:pathLst>
              <a:path h="11544731" w="14301857">
                <a:moveTo>
                  <a:pt x="0" y="0"/>
                </a:moveTo>
                <a:lnTo>
                  <a:pt x="14301857" y="0"/>
                </a:lnTo>
                <a:lnTo>
                  <a:pt x="14301857" y="11544731"/>
                </a:lnTo>
                <a:lnTo>
                  <a:pt x="0" y="115447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75303">
            <a:off x="8027729" y="1792972"/>
            <a:ext cx="9451128" cy="7169560"/>
          </a:xfrm>
          <a:custGeom>
            <a:avLst/>
            <a:gdLst/>
            <a:ahLst/>
            <a:cxnLst/>
            <a:rect r="r" b="b" t="t" l="l"/>
            <a:pathLst>
              <a:path h="7169560" w="9451128">
                <a:moveTo>
                  <a:pt x="9451128" y="0"/>
                </a:moveTo>
                <a:lnTo>
                  <a:pt x="0" y="0"/>
                </a:lnTo>
                <a:lnTo>
                  <a:pt x="0" y="7169560"/>
                </a:lnTo>
                <a:lnTo>
                  <a:pt x="9451128" y="7169560"/>
                </a:lnTo>
                <a:lnTo>
                  <a:pt x="945112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404609">
            <a:off x="-618467" y="-1470484"/>
            <a:ext cx="3294335" cy="4592103"/>
          </a:xfrm>
          <a:custGeom>
            <a:avLst/>
            <a:gdLst/>
            <a:ahLst/>
            <a:cxnLst/>
            <a:rect r="r" b="b" t="t" l="l"/>
            <a:pathLst>
              <a:path h="4592103" w="3294335">
                <a:moveTo>
                  <a:pt x="0" y="0"/>
                </a:moveTo>
                <a:lnTo>
                  <a:pt x="3294334" y="0"/>
                </a:lnTo>
                <a:lnTo>
                  <a:pt x="3294334" y="4592103"/>
                </a:lnTo>
                <a:lnTo>
                  <a:pt x="0" y="45921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262013">
            <a:off x="15861562" y="1834767"/>
            <a:ext cx="1347332" cy="700613"/>
          </a:xfrm>
          <a:custGeom>
            <a:avLst/>
            <a:gdLst/>
            <a:ahLst/>
            <a:cxnLst/>
            <a:rect r="r" b="b" t="t" l="l"/>
            <a:pathLst>
              <a:path h="700613" w="1347332">
                <a:moveTo>
                  <a:pt x="0" y="0"/>
                </a:moveTo>
                <a:lnTo>
                  <a:pt x="1347332" y="0"/>
                </a:lnTo>
                <a:lnTo>
                  <a:pt x="1347332" y="700613"/>
                </a:lnTo>
                <a:lnTo>
                  <a:pt x="0" y="7006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404609">
            <a:off x="16179475" y="7915433"/>
            <a:ext cx="2951922" cy="4114800"/>
          </a:xfrm>
          <a:custGeom>
            <a:avLst/>
            <a:gdLst/>
            <a:ahLst/>
            <a:cxnLst/>
            <a:rect r="r" b="b" t="t" l="l"/>
            <a:pathLst>
              <a:path h="4114800" w="2951922">
                <a:moveTo>
                  <a:pt x="0" y="0"/>
                </a:moveTo>
                <a:lnTo>
                  <a:pt x="2951922" y="0"/>
                </a:lnTo>
                <a:lnTo>
                  <a:pt x="29519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318431">
            <a:off x="6128355" y="1288987"/>
            <a:ext cx="2286600" cy="947900"/>
          </a:xfrm>
          <a:custGeom>
            <a:avLst/>
            <a:gdLst/>
            <a:ahLst/>
            <a:cxnLst/>
            <a:rect r="r" b="b" t="t" l="l"/>
            <a:pathLst>
              <a:path h="947900" w="2286600">
                <a:moveTo>
                  <a:pt x="0" y="0"/>
                </a:moveTo>
                <a:lnTo>
                  <a:pt x="2286601" y="0"/>
                </a:lnTo>
                <a:lnTo>
                  <a:pt x="2286601" y="947900"/>
                </a:lnTo>
                <a:lnTo>
                  <a:pt x="0" y="947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71137" y="2658577"/>
            <a:ext cx="8750615" cy="478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70"/>
              </a:lnSpc>
            </a:pPr>
            <a:r>
              <a:rPr lang="en-US" sz="15218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Muchas</a:t>
            </a:r>
          </a:p>
          <a:p>
            <a:pPr algn="l">
              <a:lnSpc>
                <a:spcPts val="18870"/>
              </a:lnSpc>
            </a:pPr>
            <a:r>
              <a:rPr lang="en-US" sz="15218">
                <a:solidFill>
                  <a:srgbClr val="003060"/>
                </a:solidFill>
                <a:latin typeface="Schoolbell"/>
                <a:ea typeface="Schoolbell"/>
                <a:cs typeface="Schoolbell"/>
                <a:sym typeface="Schoolbell"/>
              </a:rPr>
              <a:t>Gracias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039546" y="1321930"/>
            <a:ext cx="7495681" cy="7643140"/>
          </a:xfrm>
          <a:custGeom>
            <a:avLst/>
            <a:gdLst/>
            <a:ahLst/>
            <a:cxnLst/>
            <a:rect r="r" b="b" t="t" l="l"/>
            <a:pathLst>
              <a:path h="7643140" w="7495681">
                <a:moveTo>
                  <a:pt x="0" y="0"/>
                </a:moveTo>
                <a:lnTo>
                  <a:pt x="7495682" y="0"/>
                </a:lnTo>
                <a:lnTo>
                  <a:pt x="7495682" y="7643140"/>
                </a:lnTo>
                <a:lnTo>
                  <a:pt x="0" y="76431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-104313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059743">
            <a:off x="16454933" y="-6298278"/>
            <a:ext cx="11363375" cy="12302867"/>
          </a:xfrm>
          <a:custGeom>
            <a:avLst/>
            <a:gdLst/>
            <a:ahLst/>
            <a:cxnLst/>
            <a:rect r="r" b="b" t="t" l="l"/>
            <a:pathLst>
              <a:path h="12302867" w="11363375">
                <a:moveTo>
                  <a:pt x="0" y="0"/>
                </a:moveTo>
                <a:lnTo>
                  <a:pt x="11363375" y="0"/>
                </a:lnTo>
                <a:lnTo>
                  <a:pt x="11363375" y="12302866"/>
                </a:lnTo>
                <a:lnTo>
                  <a:pt x="0" y="1230286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DAGyQhKPPNo</dc:identifier>
  <dcterms:modified xsi:type="dcterms:W3CDTF">2011-08-01T06:04:30Z</dcterms:modified>
  <cp:revision>1</cp:revision>
  <dc:title>Presentación Diapositivas Salud Enfermería Ilustrativo Azul y Blanco</dc:title>
</cp:coreProperties>
</file>